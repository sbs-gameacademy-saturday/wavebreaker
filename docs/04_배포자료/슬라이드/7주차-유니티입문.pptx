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6주간 콘솔만 했다. 오늘부터 유니티다. 학생이 가장 기다린 주간이라는 걸 첫 마디에 인정하고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035는 진도를 나가지 않는 날이다. 새 문법을 넣고 싶은 유혹을 참는다.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F가 안 먹는 이유 두 개(마우스 위치, 한영키)를 반드시 같이 말한다. 안 그러면 'F 눌러도 안 돼요'가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아직 Play를 누르지 않는다. Play 중 변경 날림은 037회차 주제다.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받아쓰기 5문제: (2,3) (-2,3) (-2,-3) (0,4) (5,0). 틀리는 학생이 절반이면 한 번 더 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좌표 맞히기 게임: 강사가 물체를 놓고 학생이 채팅에 좌표를 예상해 쓴다. 3~4번 반복하면 감각이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'로컬 좌표계'라는 용어는 쓰지 않는다. 물어보는 학생에게만 개별로 알려준다.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팔이 흩어지면 자식 Position이 부모 기준이라는 걸 다시 짚는다. (1.5, 0)은 원점에서가 아니라 부모에서 1.5다.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Rigidbody를 뺐다 넣었다 두 번 반복한다. 능력이 부품에 있다는 걸 눈으로 확인시킨다. Add Component는 반드시 검색으로 — 3D Rigidbody를 고르는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Falling이 Decoration은 통과하고 Wall에서 멈추는지 확인시킨다. 안 멈추면 양쪽 Collider부터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채팅에 고정하거나 공지에 박아둔다. 다음 주부터 여기에 항목이 더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전원이 30초씩 데모한다. 잘 만든 걸 보여주는 자리가 아니라 여기까지 왔다는 걸 확인하는 자리다. 못 만든 학생에게는 Snapshot_P2_Week07.zip 을 배포한다.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경로 한글은 이번 주에 잡지 않으면 21주차 빌드에서 프로젝트를 다시 만들어야 한다. 031회차에 못을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'언제 코딩해요?'라는 조급함이 반드시 나온다. 날짜를 명확히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4FD1C5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FFC94D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7주차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317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유니티 입문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에디터 인터페이스 · Inspector · Transform · Component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38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031 – 035회차   ·   Phase 2   ·   웨이브 브레이커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흐름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코드는 한 줄도 치지 않는다. 다음 주부터 스크립트를 시작한다.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841248"/>
          </a:xfrm>
          <a:prstGeom prst="roundRect">
            <a:avLst>
              <a:gd name="adj" fmla="val 13043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783080"/>
            <a:ext cx="475488" cy="475488"/>
          </a:xfrm>
          <a:prstGeom prst="ellipse">
            <a:avLst/>
          </a:prstGeom>
          <a:solidFill>
            <a:srgbClr val="4FD1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282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에디터와 Inspector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0574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창 · Scene 조작 · 값 바꾸기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10911535" cy="841248"/>
          </a:xfrm>
          <a:prstGeom prst="roundRect">
            <a:avLst>
              <a:gd name="adj" fmla="val 13043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743200"/>
            <a:ext cx="475488" cy="475488"/>
          </a:xfrm>
          <a:prstGeom prst="ellipse">
            <a:avLst/>
          </a:prstGeom>
          <a:solidFill>
            <a:srgbClr val="FFC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2743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6883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 ① Position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017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좌표계 · X는 가로 Y는 세로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20440"/>
            <a:ext cx="10911535" cy="841248"/>
          </a:xfrm>
          <a:prstGeom prst="roundRect">
            <a:avLst>
              <a:gd name="adj" fmla="val 13043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3703320"/>
            <a:ext cx="475488" cy="475488"/>
          </a:xfrm>
          <a:prstGeom prst="ellipse">
            <a:avLst/>
          </a:prstGeom>
          <a:solidFill>
            <a:srgbClr val="F97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703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64845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 ② 회전·크기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9776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Rotation Z · Scale · 부모자식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10911535" cy="841248"/>
          </a:xfrm>
          <a:prstGeom prst="roundRect">
            <a:avLst>
              <a:gd name="adj" fmla="val 13043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663440"/>
            <a:ext cx="475488" cy="475488"/>
          </a:xfrm>
          <a:prstGeom prst="ellipse">
            <a:avLst/>
          </a:prstGeom>
          <a:solidFill>
            <a:srgbClr val="9B7B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4663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GameObject와 Component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93776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그릇과 부품 · 붙이면 능력이 생긴다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440680"/>
            <a:ext cx="10911535" cy="841248"/>
          </a:xfrm>
          <a:prstGeom prst="roundRect">
            <a:avLst>
              <a:gd name="adj" fmla="val 13043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5623560"/>
            <a:ext cx="475488" cy="475488"/>
          </a:xfrm>
          <a:prstGeom prst="ellipse">
            <a:avLst/>
          </a:prstGeom>
          <a:solidFill>
            <a:srgbClr val="4FD1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5623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5686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7주차 정리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600200" y="58978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 실습 · 자가진단 5단계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4FD1C5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에디터 인터페이스와 Inspector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중심은 Inspector — 앞으로 7개월간 가장 오래 볼 창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515258" cy="1051560"/>
          </a:xfrm>
          <a:prstGeom prst="roundRect">
            <a:avLst>
              <a:gd name="adj" fmla="val 10435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64792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Hierarchy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30552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씬에 있는 것들의 목록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8218" y="1600200"/>
            <a:ext cx="3515258" cy="1051560"/>
          </a:xfrm>
          <a:prstGeom prst="roundRect">
            <a:avLst>
              <a:gd name="adj" fmla="val 10435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64792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130552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배치하는 작업대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6357" y="1600200"/>
            <a:ext cx="3515258" cy="1051560"/>
          </a:xfrm>
          <a:prstGeom prst="roundRect">
            <a:avLst>
              <a:gd name="adj" fmla="val 10435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64957" y="1764792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Game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64957" y="2130552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보게 될 화면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3515258" cy="1051560"/>
          </a:xfrm>
          <a:prstGeom prst="roundRect">
            <a:avLst>
              <a:gd name="adj" fmla="val 10435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2999232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Inspector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364992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것의 설정판 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38218" y="2834640"/>
            <a:ext cx="3515258" cy="1051560"/>
          </a:xfrm>
          <a:prstGeom prst="roundRect">
            <a:avLst>
              <a:gd name="adj" fmla="val 10435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66818" y="2999232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Project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3364992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프로젝트의 파일 전부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6357" y="2834640"/>
            <a:ext cx="3515258" cy="1051560"/>
          </a:xfrm>
          <a:prstGeom prst="roundRect">
            <a:avLst>
              <a:gd name="adj" fmla="val 10435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64957" y="2999232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Console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264957" y="3364992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에러와 메시지가 뜨는 곳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25196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" y="44074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9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물체가 안 보이면 — 클릭하고  F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4800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마우스가 Scene 창 위에 있어야 하고, 한/영이 영문이어야 먹는다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4FD1C5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— 얼굴 만들기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Square와 Circle만으로. 코드 없음, Play 없음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897880" y="1600200"/>
            <a:ext cx="5650992" cy="36576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1_Insp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737360"/>
            <a:ext cx="5376672" cy="30266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35040" y="4828032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38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 상태 (강사 레퍼런스 씬)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600200"/>
            <a:ext cx="5029200" cy="36576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Position / Scale 값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194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Face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011680" y="2194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Circle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9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194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7B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4, 4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25786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011680" y="25786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Circle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25786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9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-0.8, 0.7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7B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0.5, 0.5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29626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011680" y="29626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Circle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017520" y="29626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9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0.8, 0.7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29626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7B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0.5, 0.5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33467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Mouth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2011680" y="33467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Square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017520" y="3346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9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-0.8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346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7B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2, 0.3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" y="4617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눈이 얼굴에 가려지면 → Sprite Renderer 의 Order in Layer 를 1 로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0080" y="5486400"/>
            <a:ext cx="10911535" cy="914400"/>
          </a:xfrm>
          <a:prstGeom prst="roundRect">
            <a:avLst>
              <a:gd name="adj" fmla="val 12000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60120" y="56875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칸 위에서 좌우로 드래그해 보세요 — 반응이 가장 좋은 지점이다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FFC94D"/>
          </a:solidFill>
          <a:ln w="12700">
            <a:solidFill>
              <a:srgbClr val="FFC9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 ① — Position과 좌표계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나올 거의 모든 코드가 좌표를 다룬다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5852160" cy="4526280"/>
          </a:xfrm>
          <a:prstGeom prst="roundRect">
            <a:avLst>
              <a:gd name="adj" fmla="val 2424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794760"/>
            <a:ext cx="4937760" cy="0"/>
          </a:xfrm>
          <a:prstGeom prst="line">
            <a:avLst/>
          </a:prstGeom>
          <a:noFill/>
          <a:ln w="19050">
            <a:solidFill>
              <a:srgbClr val="6B738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0" y="2011680"/>
            <a:ext cx="0" cy="3566160"/>
          </a:xfrm>
          <a:prstGeom prst="line">
            <a:avLst/>
          </a:prstGeom>
          <a:noFill/>
          <a:ln w="19050">
            <a:solidFill>
              <a:srgbClr val="6B738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370332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39227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(0, 0) 원점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33832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+  오른쪽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3832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C9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−  왼쪽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18562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 +  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54589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 −  아래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0" y="1600200"/>
            <a:ext cx="4693615" cy="2148840"/>
          </a:xfrm>
          <a:prstGeom prst="roundRect">
            <a:avLst>
              <a:gd name="adj" fmla="val 5106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78040" y="18470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2D에서 Z는 0으로 둔다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33172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유니티는 원래 3D 엔진이다. Z는 깊이인데 2D에서는 쓸 일이 거의 없다. 건드리면 물체가 사라진 것처럼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0" y="3977640"/>
            <a:ext cx="4693615" cy="2148840"/>
          </a:xfrm>
          <a:prstGeom prst="roundRect">
            <a:avLst>
              <a:gd name="adj" fmla="val 5106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78040" y="42245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C9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드래그 = 스냅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470916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손으로 끌면 2.03718 같은 지저분한 값이 나온다. Ctrl을 누르고 끌면 정수로 딱딱 떨어진다.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FFC94D"/>
          </a:solidFill>
          <a:ln w="12700">
            <a:solidFill>
              <a:srgbClr val="FFC9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— 좌표로 십자가 그리기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없이 정확히. 1.99도 틀린 것으로 본다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6949440" cy="4480560"/>
          </a:xfrm>
          <a:prstGeom prst="roundRect">
            <a:avLst>
              <a:gd name="adj" fmla="val 2449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2_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6675120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559612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38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 상태 (강사 레퍼런스 씬)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818120" y="1645920"/>
            <a:ext cx="3733495" cy="4480560"/>
          </a:xfrm>
          <a:prstGeom prst="roundRect">
            <a:avLst>
              <a:gd name="adj" fmla="val 2939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좌표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4231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Center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24231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Up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692640" y="29535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34838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Down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692640" y="34838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-2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40142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692640" y="40142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-2, 0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45445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Right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45445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2, 0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52578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값은 손으로 끌지 말고 Inspector에 직접 타이핑한다. 그게 제일 빠르고 정확하다.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F97E4A"/>
          </a:solidFill>
          <a:ln w="12700">
            <a:solidFill>
              <a:srgbClr val="F97E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 ② — Rotation · Scale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2D는 Z만 돈다. Scale 음수는 뒤집기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5394960" cy="2148840"/>
          </a:xfrm>
          <a:prstGeom prst="roundRect">
            <a:avLst>
              <a:gd name="adj" fmla="val 5106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7E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Rotation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30428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45  →  기울어진다  (우리가 쓸 것)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또는 Y  →  납작해진다  (2D에서 쓸 일 없음)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되돌리기 = Transform ⋮ → Reset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5394960" cy="2148840"/>
          </a:xfrm>
          <a:prstGeom prst="roundRect">
            <a:avLst>
              <a:gd name="adj" fmla="val 5106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1879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B7B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Scale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360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이 기본 · 2 면 두 배 · 0.5 면 절반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에 −1  →  거울처럼 좌우 반전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을 넣으면 사라진다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645920"/>
            <a:ext cx="4876495" cy="4480560"/>
          </a:xfrm>
          <a:prstGeom prst="roundRect">
            <a:avLst>
              <a:gd name="adj" fmla="val 2449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494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부모자식 — 오늘의 핵심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317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Hierarchy에서 오브젝트를 다른 오브젝트 위로 끌어다 놓으면 자식이 된다.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3200400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F97E4A">
              <a:alpha val="18000"/>
            </a:srgbClr>
          </a:solidFill>
          <a:ln w="12700">
            <a:solidFill>
              <a:srgbClr val="F97E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340156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자식이 되면 좌표를 부모 기준으로 센다.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(0, 0)은 원점이 아니라 부모가 있는 자리다.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46634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부모를 움직이면 자식이 따라온다. 캐릭터가 움직이면 체력바도 따라와야 한다 — 그때 이걸 쓴다.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F97E4A"/>
          </a:solidFill>
          <a:ln w="12700">
            <a:solidFill>
              <a:srgbClr val="F97E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— 로봇팔 만들기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어깨를 돌리면 팔 전체가 돌아야 한다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852160" y="1645920"/>
            <a:ext cx="5696712" cy="36576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3_Trans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83080"/>
            <a:ext cx="5422392" cy="30540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89320" y="4892040"/>
            <a:ext cx="5422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38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 상태 — 4단 계층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645920"/>
            <a:ext cx="4937760" cy="36576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828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E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계층 구조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Shoulder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어깨 — 부모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344168" y="2743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UpperArm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743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윗팔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728216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LowerArm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32004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아랫팔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112264" y="3657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36576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44348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순서가 중요하다. 4개를 만들어 계층부터 만들고, 그다음 좌표를 넣는다. 반대로 하면 위치가 튄다.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" y="553212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0120" y="572414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Shoulder 만 돌렸는데 손까지 따라 움직이면 통과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9B7BE8"/>
          </a:solidFill>
          <a:ln w="12700">
            <a:solidFill>
              <a:srgbClr val="9B7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GameObject와 Component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조립이 아니라 분해로 가르친다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10911535" cy="457200"/>
          </a:xfrm>
          <a:prstGeom prst="roundRect">
            <a:avLst>
              <a:gd name="adj" fmla="val 24000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6733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6733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167335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있으면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3225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7B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23225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존재 불가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32257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· 회전 · 크기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2898648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07238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Sprite Renderer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307238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보인다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307238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보인다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648456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8221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Collider 2D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38221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통과한다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38221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부딪힌다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572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Rigidbody 2D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4572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 있는다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4572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중력을 받는다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5440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7B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벽이랑 떨어지는 상자의 차이는 부품 하나다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9B7BE8"/>
          </a:solidFill>
          <a:ln w="12700">
            <a:solidFill>
              <a:srgbClr val="9B7B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— 부품 조합 4종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Create Empty 로 만든다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852160" y="1645920"/>
            <a:ext cx="5696712" cy="36576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4_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83080"/>
            <a:ext cx="5422392" cy="30540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89320" y="4892040"/>
            <a:ext cx="5422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38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 상태 — Falling 이 Wall 에서 멈춘다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645920"/>
            <a:ext cx="4937760" cy="713232"/>
          </a:xfrm>
          <a:prstGeom prst="roundRect">
            <a:avLst>
              <a:gd name="adj" fmla="val 15385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6112" y="1865376"/>
            <a:ext cx="274320" cy="274320"/>
          </a:xfrm>
          <a:prstGeom prst="ellipse">
            <a:avLst/>
          </a:prstGeom>
          <a:solidFill>
            <a:srgbClr val="6B73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25880" y="17373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Invisible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029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 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2450592"/>
            <a:ext cx="4937760" cy="713232"/>
          </a:xfrm>
          <a:prstGeom prst="roundRect">
            <a:avLst>
              <a:gd name="adj" fmla="val 15385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96112" y="2670048"/>
            <a:ext cx="274320" cy="274320"/>
          </a:xfrm>
          <a:prstGeom prst="ellipse">
            <a:avLst/>
          </a:prstGeom>
          <a:solidFill>
            <a:srgbClr val="9AA3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25880" y="2542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Decoration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Sprite Renderer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" y="3255264"/>
            <a:ext cx="4937760" cy="713232"/>
          </a:xfrm>
          <a:prstGeom prst="roundRect">
            <a:avLst>
              <a:gd name="adj" fmla="val 15385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6112" y="3474720"/>
            <a:ext cx="274320" cy="274320"/>
          </a:xfrm>
          <a:prstGeom prst="ellipse">
            <a:avLst/>
          </a:prstGeom>
          <a:solidFill>
            <a:srgbClr val="4FD1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25880" y="33467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25880" y="36393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Collider 2D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4059936"/>
            <a:ext cx="4937760" cy="713232"/>
          </a:xfrm>
          <a:prstGeom prst="roundRect">
            <a:avLst>
              <a:gd name="adj" fmla="val 15385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96112" y="4279392"/>
            <a:ext cx="274320" cy="274320"/>
          </a:xfrm>
          <a:prstGeom prst="ellipse">
            <a:avLst/>
          </a:prstGeom>
          <a:solidFill>
            <a:srgbClr val="F97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325880" y="41513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Falling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25880" y="44439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Rigidbody 2D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553212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60120" y="572414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9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떨어지는 쪽에도 Collider 가 있어야 부딪힌다 — 양쪽 다 필요하다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4FD1C5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막혔을 때 확인 순서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진짜 수업 — 새 문법은 하나도 안 나간다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911535" cy="749808"/>
          </a:xfrm>
          <a:prstGeom prst="roundRect">
            <a:avLst>
              <a:gd name="adj" fmla="val 14634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847088"/>
            <a:ext cx="438912" cy="438912"/>
          </a:xfrm>
          <a:prstGeom prst="ellipse">
            <a:avLst/>
          </a:prstGeom>
          <a:solidFill>
            <a:srgbClr val="4FD1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1892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물체가 화면 안에 있나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920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Hierarchy 클릭 → 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532888"/>
            <a:ext cx="10911535" cy="749808"/>
          </a:xfrm>
          <a:prstGeom prst="roundRect">
            <a:avLst>
              <a:gd name="adj" fmla="val 14634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2688336"/>
            <a:ext cx="438912" cy="438912"/>
          </a:xfrm>
          <a:prstGeom prst="ellipse">
            <a:avLst/>
          </a:prstGeom>
          <a:solidFill>
            <a:srgbClr val="4FD1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6883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27340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Inspector 값이 이상하지 않나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76148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Scale 0 / Rotation X·Y / Position Z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374136"/>
            <a:ext cx="10911535" cy="749808"/>
          </a:xfrm>
          <a:prstGeom prst="roundRect">
            <a:avLst>
              <a:gd name="adj" fmla="val 14634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529584"/>
            <a:ext cx="438912" cy="438912"/>
          </a:xfrm>
          <a:prstGeom prst="ellipse">
            <a:avLst/>
          </a:prstGeom>
          <a:solidFill>
            <a:srgbClr val="4FD1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357530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부품이 다 붙어 있나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360273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보이면 Sprite Renderer, 안 부딪히면 Collider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215384"/>
            <a:ext cx="10911535" cy="749808"/>
          </a:xfrm>
          <a:prstGeom prst="roundRect">
            <a:avLst>
              <a:gd name="adj" fmla="val 14634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6112" y="4370832"/>
            <a:ext cx="438912" cy="438912"/>
          </a:xfrm>
          <a:prstGeom prst="ellipse">
            <a:avLst/>
          </a:prstGeom>
          <a:solidFill>
            <a:srgbClr val="4FD1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6112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554480" y="441655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체크박스가 켜져 있나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오브젝트와 컴포넌트 둘 다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056632"/>
            <a:ext cx="10911535" cy="749808"/>
          </a:xfrm>
          <a:prstGeom prst="roundRect">
            <a:avLst>
              <a:gd name="adj" fmla="val 14634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6112" y="5212080"/>
            <a:ext cx="438912" cy="438912"/>
          </a:xfrm>
          <a:prstGeom prst="ellipse">
            <a:avLst/>
          </a:prstGeom>
          <a:solidFill>
            <a:srgbClr val="4FD1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" y="5212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52578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Console 에 빨간 줄이 있나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52852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있으면 더블클릭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개로 열 번 중 아홉 번은 해결된다. 나머지 한 번만 강사를 부른다.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58368" cy="658368"/>
          </a:xfrm>
          <a:prstGeom prst="ellipse">
            <a:avLst/>
          </a:prstGeom>
          <a:solidFill>
            <a:srgbClr val="4FD1C5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12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457200"/>
            <a:ext cx="10042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— 내 놀이터 만들기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914400"/>
            <a:ext cx="10042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7주차에 배운 것만으로 장면을 구성한다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6949440" cy="4480560"/>
          </a:xfrm>
          <a:prstGeom prst="roundRect">
            <a:avLst>
              <a:gd name="adj" fmla="val 2449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5_Play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6675120" cy="3749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559612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38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 예시 — Play 중 (물체가 떨어지는 중)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818120" y="1645920"/>
            <a:ext cx="3733495" cy="4480560"/>
          </a:xfrm>
          <a:prstGeom prst="roundRect">
            <a:avLst>
              <a:gd name="adj" fmla="val 2939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 조건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37744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 (Collider 있음, Rigidbody 없음)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떨어지는 물체 3개 이상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부모자식 구조 최소 한 곳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회전된 물체 하나 (Rotation Z)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뒤집힌 물체 하나 (Scale 음수)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정리 · 좌표는 정수로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흔한 사고 TOP 5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강사용 — 미리 알고 있으면 대응이 빨라진다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804672"/>
          </a:xfrm>
          <a:prstGeom prst="roundRect">
            <a:avLst>
              <a:gd name="adj" fmla="val 13636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1109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물체가 안 보여요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19293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밖 / 카메라 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92938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클릭하고 F. 매번 같은 말로 반복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10911535" cy="804672"/>
          </a:xfrm>
          <a:prstGeom prst="roundRect">
            <a:avLst>
              <a:gd name="adj" fmla="val 13636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8072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창을 닫아버림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82549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탭을 실수로 드래그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8254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→ Layouts → Default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10911535" cy="804672"/>
          </a:xfrm>
          <a:prstGeom prst="roundRect">
            <a:avLst>
              <a:gd name="adj" fmla="val 13636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703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3D Rigidbody 를 넣음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7216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결과 첫 줄 선택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37216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2D 가 붙은 것을 고른다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79976"/>
            <a:ext cx="10911535" cy="804672"/>
          </a:xfrm>
          <a:prstGeom prst="roundRect">
            <a:avLst>
              <a:gd name="adj" fmla="val 13636"/>
            </a:avLst>
          </a:prstGeom>
          <a:solidFill>
            <a:srgbClr val="2A2F3A"/>
          </a:solidFill>
          <a:ln w="12700">
            <a:solidFill>
              <a:srgbClr val="2A2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5994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자식으로 넣으니 위치가 튐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617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좌표가 부모 기준으로 바뀜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4617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부모에서부터 센다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276088"/>
            <a:ext cx="10911535" cy="804672"/>
          </a:xfrm>
          <a:prstGeom prst="roundRect">
            <a:avLst>
              <a:gd name="adj" fmla="val 13636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49554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E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경로가 한글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5138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이름이 한글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55138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다시 만든다. 21주차에 터진다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1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7주차 체크리스트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전원이 통과해야 8주차로 넘어간다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창의 이름과 역할을 말한다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134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2585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클릭하고 F 로 물체를 찾는다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8254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Inspector 에서 Position 을 바꾼다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3924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양수는 오른쪽, Y 양수는 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1421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9593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2D 는 Rotation Z 만 쓴다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174650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940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Scale 음수는 뒤집기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23134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22585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자식 좌표는 부모 기준이다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288036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9400" y="28254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Component 를 추가·제거한다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34472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33924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Transform 은 못 지운다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401421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43A47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29400" y="39593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막혔을 때 5단계를 돌린다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911535" cy="1371600"/>
          </a:xfrm>
          <a:prstGeom prst="roundRect">
            <a:avLst>
              <a:gd name="adj" fmla="val 8000"/>
            </a:avLst>
          </a:prstGeom>
          <a:solidFill>
            <a:srgbClr val="343A47"/>
          </a:solidFill>
          <a:ln w="12700">
            <a:solidFill>
              <a:srgbClr val="343A4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05840" y="49560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D1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 (036 – 040)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32180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지금까지는 손으로 값을 바꿨다. 다음 주부터는 코드가 대신 바꾼다.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6주 동안 배운 클래스와 메서드가 드디어 나온다 — 새로 배우는 게 아니다.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7주차 · 유니티 입문</dc:title>
  <dc:subject>PptxGenJS Presentation</dc:subject>
  <dc:creator>WaveBreaker 강의</dc:creator>
  <cp:lastModifiedBy>WaveBreaker 강의</cp:lastModifiedBy>
  <cp:revision>1</cp:revision>
  <dcterms:created xsi:type="dcterms:W3CDTF">2026-09-01T15:38:43Z</dcterms:created>
  <dcterms:modified xsi:type="dcterms:W3CDTF">2026-09-01T15:38:43Z</dcterms:modified>
</cp:coreProperties>
</file>